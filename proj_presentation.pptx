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notesMasterIdLst>
    <p:notesMasterId r:id="rId23"/>
  </p:notesMasterIdLst>
  <p:sldIdLst>
    <p:sldId id="256" r:id="rId2"/>
    <p:sldId id="257" r:id="rId3"/>
    <p:sldId id="258" r:id="rId4"/>
    <p:sldId id="262" r:id="rId5"/>
    <p:sldId id="264" r:id="rId6"/>
    <p:sldId id="265" r:id="rId7"/>
    <p:sldId id="266" r:id="rId8"/>
    <p:sldId id="267" r:id="rId9"/>
    <p:sldId id="268" r:id="rId10"/>
    <p:sldId id="269" r:id="rId11"/>
    <p:sldId id="271" r:id="rId12"/>
    <p:sldId id="282" r:id="rId13"/>
    <p:sldId id="272" r:id="rId14"/>
    <p:sldId id="274" r:id="rId15"/>
    <p:sldId id="275" r:id="rId16"/>
    <p:sldId id="276" r:id="rId17"/>
    <p:sldId id="283" r:id="rId18"/>
    <p:sldId id="277" r:id="rId19"/>
    <p:sldId id="278" r:id="rId20"/>
    <p:sldId id="279" r:id="rId21"/>
    <p:sldId id="280" r:id="rId22"/>
  </p:sldIdLst>
  <p:sldSz cx="12192000" cy="6858000"/>
  <p:notesSz cx="6858000" cy="9144000"/>
  <p:defaultTextStyle>
    <a:defPPr>
      <a:defRPr lang="en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D80"/>
    <a:srgbClr val="7EBDAB"/>
    <a:srgbClr val="E2C0CC"/>
    <a:srgbClr val="E2A4BF"/>
    <a:srgbClr val="ECAB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77C17B-793C-8F25-B758-6446AE8B8B53}" v="1" dt="2026-01-01T22:00:38.984"/>
  </p1510:revLst>
</p1510:revInfo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C8552-03A0-4F4E-8419-F4064793FCB8}" type="datetimeFigureOut">
              <a:rPr lang="en-SA" smtClean="0"/>
              <a:t>01/01/2026</a:t>
            </a:fld>
            <a:endParaRPr lang="en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58889E-4469-354B-861D-0C07427B7FD8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603086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8889E-4469-354B-861D-0C07427B7FD8}" type="slidenum">
              <a:rPr lang="en-SA" smtClean="0"/>
              <a:t>10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4010196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8889E-4469-354B-861D-0C07427B7FD8}" type="slidenum">
              <a:rPr lang="en-SA" smtClean="0"/>
              <a:t>11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4205642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8889E-4469-354B-861D-0C07427B7FD8}" type="slidenum">
              <a:rPr lang="en-SA" smtClean="0"/>
              <a:t>12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580781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D4DFA-D6C8-DB5F-55E4-2712F6125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243E0A-8D5B-893D-B90E-AA7391353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09DA7E-5BFD-CB5B-5D70-7E6D07B9B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EDD9C-D79B-1F56-4CCC-84F5FA622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8889E-4469-354B-861D-0C07427B7FD8}" type="slidenum">
              <a:rPr lang="en-SA" smtClean="0"/>
              <a:t>13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263796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8889E-4469-354B-861D-0C07427B7FD8}" type="slidenum">
              <a:rPr lang="en-SA" smtClean="0"/>
              <a:t>14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0265405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8889E-4469-354B-861D-0C07427B7FD8}" type="slidenum">
              <a:rPr lang="en-SA" smtClean="0"/>
              <a:t>15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42618768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8889E-4469-354B-861D-0C07427B7FD8}" type="slidenum">
              <a:rPr lang="en-SA" smtClean="0"/>
              <a:t>16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5464250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8889E-4469-354B-861D-0C07427B7FD8}" type="slidenum">
              <a:rPr lang="en-SA" smtClean="0"/>
              <a:t>17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2735267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8889E-4469-354B-861D-0C07427B7FD8}" type="slidenum">
              <a:rPr lang="en-SA" smtClean="0"/>
              <a:t>19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973247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28808-26D1-4F4B-96F4-F3082078D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008" y="1122362"/>
            <a:ext cx="8816632" cy="357155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E0C639-B0CD-4365-98A9-C1E5FF6CF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008" y="5521960"/>
            <a:ext cx="8816632" cy="94487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80C52-E6BB-4B27-B5D8-2D33B2497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7C649-4A0C-4EF2-8FC1-2BCF0BF9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E03F2-D0FE-49BB-8AEC-E99C4DB2D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4A7CC8F-56A6-423D-B67A-8BA89D3EC911}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9493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832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9F01F-198D-4AAD-B4FB-AD3B44981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9438640" cy="4114800"/>
          </a:xfrm>
        </p:spPr>
        <p:txBody>
          <a:bodyPr anchor="t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BCC2B-311B-4FB6-B3A5-26F68055A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217160"/>
            <a:ext cx="9438640" cy="802640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CB73D-2D6B-4FA6-89A4-DCC89F80E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0C188-FF43-44C1-A005-679168D5F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D1188-DA27-47B2-8176-31193EEC4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157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B5A25-7E99-42A8-8D6D-648EFE203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501DC-62B7-42BD-A941-D34E92719C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79"/>
            <a:ext cx="5181600" cy="4165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5C5C1-4FD4-4958-99A0-BDADECA33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11679"/>
            <a:ext cx="5181600" cy="4165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1B234-5D54-44E5-B41D-B205AAF50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7BCDB-6B96-45D6-B5E9-823A96EB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39C5F-F16F-4AFD-98D1-FA3BB96AF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192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44C1F-0040-4BBF-81A6-FD2E30637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7978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894A7-1DA1-44C1-8ED0-716279430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824035"/>
            <a:ext cx="4997132" cy="681040"/>
          </a:xfrm>
        </p:spPr>
        <p:txBody>
          <a:bodyPr anchor="b"/>
          <a:lstStyle>
            <a:lvl1pPr marL="0" indent="0">
              <a:buNone/>
              <a:defRPr sz="2400" b="1" i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AB945-31E2-4B60-9076-CBB8F8594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499713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71B3EA-2E84-4B8B-A104-81BD57742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5080" y="1824035"/>
            <a:ext cx="5000308" cy="681040"/>
          </a:xfrm>
        </p:spPr>
        <p:txBody>
          <a:bodyPr anchor="b"/>
          <a:lstStyle>
            <a:lvl1pPr marL="0" indent="0">
              <a:buNone/>
              <a:defRPr sz="2400" b="1" i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511AB8-302C-476E-B80A-AA739911E3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5080" y="2505075"/>
            <a:ext cx="500030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B47C29-FE34-4E6E-9921-78C54673A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6B420-A9CE-4BB6-A653-5C3ABC7D6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1DF8FE-1179-4798-B16D-AF1DFA266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797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66F1A-0A68-4048-808F-CD7A9F3B0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9592"/>
            <a:ext cx="10515600" cy="1573223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ACB3E6-5365-48F5-8D2A-0B002BA35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7D8EE9-4D97-4B2F-8D38-41CB9EE77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2C5952-0A27-4FAB-A3FD-120037876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661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D08427-909D-4679-9192-BC99557A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8E39A6-1E09-42B5-85B4-7E8B5AB2A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38940-01DD-4C97-8649-E01C3B0ED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968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93B3D-D568-40B4-A73A-1C8EA9ABB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691818" cy="1701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86EB3-917A-43B7-85BB-D00B5D2F0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4798" y="987425"/>
            <a:ext cx="5840589" cy="50323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AC029-3BC1-4637-A7F9-BC786DC26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372360"/>
            <a:ext cx="3691817" cy="349662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0B948-89C5-4AC5-B7A0-17136F5C5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6C8C5-652F-46CB-BD26-E262B057F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B50CB-E91F-4B71-81F0-800F2B51A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69B885-FDB8-4C62-A285-A0CDC49A6B0C}"/>
              </a:ext>
            </a:extLst>
          </p:cNvPr>
          <p:cNvCxnSpPr>
            <a:cxnSpLocks/>
          </p:cNvCxnSpPr>
          <p:nvPr/>
        </p:nvCxnSpPr>
        <p:spPr>
          <a:xfrm>
            <a:off x="502320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270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F941E-6445-4840-81AE-104EF7A4F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696652" cy="1701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F8B866-E32B-4AE7-AEF3-6974AE3288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86120" y="838200"/>
            <a:ext cx="5603238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2ABB7A-E157-499A-B224-C2313181F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367280"/>
            <a:ext cx="3696652" cy="350170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77283-E2B8-405E-BB6E-9F121140E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21F05-EB94-417F-B19B-96FF3D9EC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7C3C7-B6DB-4064-8E66-9FB770C88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E233FA-220A-423F-907E-5F81526A28A0}"/>
              </a:ext>
            </a:extLst>
          </p:cNvPr>
          <p:cNvCxnSpPr>
            <a:cxnSpLocks/>
          </p:cNvCxnSpPr>
          <p:nvPr/>
        </p:nvCxnSpPr>
        <p:spPr>
          <a:xfrm>
            <a:off x="502320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26706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56D52-667C-4E67-9038-A0BDFD8CC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E72AC-0272-475A-BD25-2AB7AC1DE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FBFF2-9ECB-4CDD-87FA-9DD1F87BF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C12B3-DAF5-4BA7-A3A6-D0284716D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171AE-4A11-4035-A072-9AC4053FF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37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A52E95-2F50-48D3-B00E-4C259644E7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50174" y="838199"/>
            <a:ext cx="2303626" cy="5338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617C9B-4E02-49C8-B6DF-65ED3C990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38199"/>
            <a:ext cx="7734300" cy="5338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CA10C-AC31-4D80-B78F-08E48CDCB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B5B7-F312-4BC9-A5D3-72E065D1B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2E489-5442-4698-B6E3-3421A97C2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F3A7E1-F157-4338-B7F7-9C0A2D60B7FF}"/>
              </a:ext>
            </a:extLst>
          </p:cNvPr>
          <p:cNvCxnSpPr>
            <a:cxnSpLocks/>
          </p:cNvCxnSpPr>
          <p:nvPr/>
        </p:nvCxnSpPr>
        <p:spPr>
          <a:xfrm>
            <a:off x="881133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813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6CCBF3A-D7FB-4B97-8FD5-6FFB20CB1E8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9339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8">
            <a:extLst>
              <a:ext uri="{FF2B5EF4-FFF2-40B4-BE49-F238E27FC236}">
                <a16:creationId xmlns:a16="http://schemas.microsoft.com/office/drawing/2014/main" id="{8F626F98-F213-4034-8836-88A71501D0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09518B-6B6F-E814-B3C0-8867BD500E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 useBgFill="1">
        <p:nvSpPr>
          <p:cNvPr id="18" name="Freeform: Shape 10">
            <a:extLst>
              <a:ext uri="{FF2B5EF4-FFF2-40B4-BE49-F238E27FC236}">
                <a16:creationId xmlns:a16="http://schemas.microsoft.com/office/drawing/2014/main" id="{6B3DAACF-D844-4480-94BE-2DE00ABEE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75199" y="726177"/>
            <a:ext cx="5241603" cy="5343721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25805" h="5429563">
                <a:moveTo>
                  <a:pt x="5325805" y="2714782"/>
                </a:moveTo>
                <a:cubicBezTo>
                  <a:pt x="5325805" y="4214114"/>
                  <a:pt x="4110356" y="5429563"/>
                  <a:pt x="2611024" y="5429563"/>
                </a:cubicBezTo>
                <a:lnTo>
                  <a:pt x="1942188" y="5429563"/>
                </a:lnTo>
                <a:lnTo>
                  <a:pt x="668836" y="5429563"/>
                </a:lnTo>
                <a:lnTo>
                  <a:pt x="0" y="5429563"/>
                </a:lnTo>
                <a:lnTo>
                  <a:pt x="0" y="0"/>
                </a:lnTo>
                <a:lnTo>
                  <a:pt x="668836" y="0"/>
                </a:lnTo>
                <a:lnTo>
                  <a:pt x="1942188" y="0"/>
                </a:lnTo>
                <a:lnTo>
                  <a:pt x="2611024" y="0"/>
                </a:lnTo>
                <a:cubicBezTo>
                  <a:pt x="4110356" y="0"/>
                  <a:pt x="5325805" y="1215450"/>
                  <a:pt x="5325805" y="2714782"/>
                </a:cubicBezTo>
                <a:close/>
              </a:path>
            </a:pathLst>
          </a:custGeom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43487D-5D42-0559-6812-B68709605FC1}"/>
              </a:ext>
            </a:extLst>
          </p:cNvPr>
          <p:cNvSpPr txBox="1"/>
          <p:nvPr/>
        </p:nvSpPr>
        <p:spPr>
          <a:xfrm>
            <a:off x="3578083" y="2274838"/>
            <a:ext cx="503583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/>
              <a:t>Estimation of Obesity Levels Based On Eating Habits and Physical Condition</a:t>
            </a:r>
            <a:endParaRPr lang="en-SA" sz="4000"/>
          </a:p>
        </p:txBody>
      </p:sp>
    </p:spTree>
    <p:extLst>
      <p:ext uri="{BB962C8B-B14F-4D97-AF65-F5344CB8AC3E}">
        <p14:creationId xmlns:p14="http://schemas.microsoft.com/office/powerpoint/2010/main" val="800815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67E81-5ADB-7D0E-0F69-5432E7BF3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/>
              <a:t>Objectives:              Scope: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3F901-23D8-067D-960E-72D07C401C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1. To analyze the influence of lifestyle habits and demographic data on obesity</a:t>
            </a:r>
            <a:br>
              <a:rPr lang="en-US"/>
            </a:br>
            <a:r>
              <a:rPr lang="en-US"/>
              <a:t>2. To support early identification of individuals at risk of obesity</a:t>
            </a:r>
            <a:br>
              <a:rPr lang="en-US"/>
            </a:br>
            <a:r>
              <a:rPr lang="en-US"/>
              <a:t>3. To identify lifestyle patterns that help prevent obesity, allowing for practical health recommendations</a:t>
            </a:r>
            <a:endParaRPr lang="en-S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305E27-7704-CD25-75D4-8E16387386D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000"/>
              <a:t>Insights are derived strictly from the available dataset, which includes lifestyle habits and demographic data. Factors beyond the dataset’s coverage—such as genetics and detailed medical history—are not considered. As a result, the findings may have limitations in their depth and generalizability.</a:t>
            </a:r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603819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978E171-E678-CF80-888E-B12A327E34C2}"/>
              </a:ext>
            </a:extLst>
          </p:cNvPr>
          <p:cNvSpPr txBox="1">
            <a:spLocks/>
          </p:cNvSpPr>
          <p:nvPr/>
        </p:nvSpPr>
        <p:spPr>
          <a:xfrm>
            <a:off x="123271" y="1807186"/>
            <a:ext cx="8082517" cy="1116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The dataset consists of 2,111 samples and 16 input </a:t>
            </a:r>
            <a:r>
              <a:rPr lang="en-US" b="1"/>
              <a:t>features related to lifestyle habits and demographic information</a:t>
            </a:r>
            <a:r>
              <a:rPr lang="en-US"/>
              <a:t>, along with one target variable, </a:t>
            </a:r>
            <a:r>
              <a:rPr lang="en-US" i="1"/>
              <a:t>NObesity</a:t>
            </a:r>
            <a:r>
              <a:rPr lang="en-US"/>
              <a:t>. Data was collected from individuals in Mexico, Peru, and Colombia.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S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10C4FB-BAEA-0AAB-4394-71ECE5158D8F}"/>
              </a:ext>
            </a:extLst>
          </p:cNvPr>
          <p:cNvSpPr/>
          <p:nvPr/>
        </p:nvSpPr>
        <p:spPr>
          <a:xfrm>
            <a:off x="8200847" y="1483488"/>
            <a:ext cx="3991154" cy="533680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endParaRPr 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>
                <a:solidFill>
                  <a:schemeClr val="tx1"/>
                </a:solidFill>
              </a:rPr>
              <a:t>The target variable includes </a:t>
            </a:r>
            <a:r>
              <a:rPr lang="en-US" sz="2000" b="1">
                <a:solidFill>
                  <a:schemeClr val="tx1"/>
                </a:solidFill>
              </a:rPr>
              <a:t>six obesity categories:</a:t>
            </a:r>
          </a:p>
          <a:p>
            <a:pPr marL="0" indent="0">
              <a:buNone/>
            </a:pPr>
            <a:endParaRPr lang="en-US" sz="2000" b="1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Insufficient_Weight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Normal_Weight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Overweight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Obesity_Type_I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Obesity_Type_II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Obesity_Type_III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D435EA-1E77-3579-1001-27D562BD9FF8}"/>
              </a:ext>
            </a:extLst>
          </p:cNvPr>
          <p:cNvSpPr/>
          <p:nvPr/>
        </p:nvSpPr>
        <p:spPr>
          <a:xfrm>
            <a:off x="147083" y="3400067"/>
            <a:ext cx="8082517" cy="34175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>
              <a:solidFill>
                <a:schemeClr val="tx1"/>
              </a:solidFill>
            </a:endParaRP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The dataset is slightly imbalanced, with class distribution ranging from approximately 12.87% to 27.48%. This variation is not expected to significantly affect model performance.</a:t>
            </a:r>
          </a:p>
          <a:p>
            <a:r>
              <a:rPr lang="en-US" b="1">
                <a:solidFill>
                  <a:schemeClr val="tx1"/>
                </a:solidFill>
              </a:rPr>
              <a:t>No data cleaning was required</a:t>
            </a:r>
            <a:r>
              <a:rPr lang="en-US">
                <a:solidFill>
                  <a:schemeClr val="tx1"/>
                </a:solidFill>
              </a:rPr>
              <a:t>, as there are no missing values. Outliers were not removed because health data often exhibits natural skewness, and extreme values are still relevant to the analysis; as are part of the studied phenomenon.</a:t>
            </a:r>
            <a:endParaRPr lang="en-S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85B058-A291-ADF4-CCBD-36B4FC992DEF}"/>
              </a:ext>
            </a:extLst>
          </p:cNvPr>
          <p:cNvSpPr/>
          <p:nvPr/>
        </p:nvSpPr>
        <p:spPr>
          <a:xfrm>
            <a:off x="-1" y="3407962"/>
            <a:ext cx="217082" cy="34175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SA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631CFCA-96BE-873E-EF87-EC2D517DEDDE}"/>
              </a:ext>
            </a:extLst>
          </p:cNvPr>
          <p:cNvCxnSpPr>
            <a:cxnSpLocks/>
          </p:cNvCxnSpPr>
          <p:nvPr/>
        </p:nvCxnSpPr>
        <p:spPr>
          <a:xfrm flipH="1">
            <a:off x="-66368" y="3402698"/>
            <a:ext cx="283449" cy="5264"/>
          </a:xfrm>
          <a:prstGeom prst="line">
            <a:avLst/>
          </a:prstGeom>
          <a:ln w="952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147AD77-3139-6E43-EA34-20F036E69FEE}"/>
              </a:ext>
            </a:extLst>
          </p:cNvPr>
          <p:cNvCxnSpPr>
            <a:cxnSpLocks/>
          </p:cNvCxnSpPr>
          <p:nvPr/>
        </p:nvCxnSpPr>
        <p:spPr>
          <a:xfrm flipH="1">
            <a:off x="-213852" y="6817662"/>
            <a:ext cx="1534604" cy="0"/>
          </a:xfrm>
          <a:prstGeom prst="line">
            <a:avLst/>
          </a:prstGeom>
          <a:ln w="952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251ACF3C-B4BA-C3B7-F38D-46A1AFBF5BB4}"/>
              </a:ext>
            </a:extLst>
          </p:cNvPr>
          <p:cNvSpPr/>
          <p:nvPr/>
        </p:nvSpPr>
        <p:spPr>
          <a:xfrm>
            <a:off x="8200845" y="1481836"/>
            <a:ext cx="4001619" cy="5333079"/>
          </a:xfrm>
          <a:prstGeom prst="rect">
            <a:avLst/>
          </a:prstGeom>
          <a:solidFill>
            <a:srgbClr val="E2C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ysClr val="windowText" lastClr="000000"/>
                </a:solidFill>
              </a:rPr>
              <a:t>Dataset Features:</a:t>
            </a:r>
          </a:p>
          <a:p>
            <a:endParaRPr lang="en-US" sz="1050">
              <a:solidFill>
                <a:sysClr val="windowText" lastClr="000000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400" b="1">
                <a:solidFill>
                  <a:sysClr val="windowText" lastClr="000000"/>
                </a:solidFill>
              </a:rPr>
              <a:t>Age</a:t>
            </a:r>
            <a:endParaRPr lang="en-US" sz="1400">
              <a:solidFill>
                <a:sysClr val="windowText" lastClr="000000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400" b="1">
                <a:solidFill>
                  <a:sysClr val="windowText" lastClr="000000"/>
                </a:solidFill>
              </a:rPr>
              <a:t>Height</a:t>
            </a:r>
            <a:endParaRPr lang="en-US" sz="1400">
              <a:solidFill>
                <a:sysClr val="windowText" lastClr="000000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400" b="1">
                <a:solidFill>
                  <a:sysClr val="windowText" lastClr="000000"/>
                </a:solidFill>
              </a:rPr>
              <a:t>Weight</a:t>
            </a:r>
            <a:endParaRPr lang="en-US" sz="1400">
              <a:solidFill>
                <a:sysClr val="windowText" lastClr="000000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400" b="1">
                <a:solidFill>
                  <a:sysClr val="windowText" lastClr="000000"/>
                </a:solidFill>
              </a:rPr>
              <a:t>Gender</a:t>
            </a:r>
            <a:endParaRPr lang="en-US" sz="1400">
              <a:solidFill>
                <a:sysClr val="windowText" lastClr="000000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400" b="1">
                <a:solidFill>
                  <a:sysClr val="windowText" lastClr="000000"/>
                </a:solidFill>
              </a:rPr>
              <a:t>family_history_with_overweight</a:t>
            </a:r>
            <a:endParaRPr lang="en-US" sz="1400">
              <a:solidFill>
                <a:sysClr val="windowText" lastClr="000000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400" b="1">
                <a:solidFill>
                  <a:sysClr val="windowText" lastClr="000000"/>
                </a:solidFill>
              </a:rPr>
              <a:t>FAVC</a:t>
            </a:r>
            <a:r>
              <a:rPr lang="en-US" sz="1400">
                <a:solidFill>
                  <a:sysClr val="windowText" lastClr="000000"/>
                </a:solidFill>
              </a:rPr>
              <a:t> – Frequent consumption of high-calorie food (Yes/No)</a:t>
            </a:r>
          </a:p>
          <a:p>
            <a:pPr>
              <a:buFont typeface="+mj-lt"/>
              <a:buAutoNum type="arabicPeriod"/>
            </a:pPr>
            <a:r>
              <a:rPr lang="en-US" sz="1400" b="1">
                <a:solidFill>
                  <a:sysClr val="windowText" lastClr="000000"/>
                </a:solidFill>
              </a:rPr>
              <a:t>FCVC</a:t>
            </a:r>
            <a:r>
              <a:rPr lang="en-US" sz="1400">
                <a:solidFill>
                  <a:sysClr val="windowText" lastClr="000000"/>
                </a:solidFill>
              </a:rPr>
              <a:t> – Frequency of vegetable consumption (1-3 scale)</a:t>
            </a:r>
          </a:p>
          <a:p>
            <a:pPr>
              <a:buFont typeface="+mj-lt"/>
              <a:buAutoNum type="arabicPeriod"/>
            </a:pPr>
            <a:r>
              <a:rPr lang="en-US" sz="1400" b="1">
                <a:solidFill>
                  <a:sysClr val="windowText" lastClr="000000"/>
                </a:solidFill>
              </a:rPr>
              <a:t>NCP</a:t>
            </a:r>
            <a:r>
              <a:rPr lang="en-US" sz="1400">
                <a:solidFill>
                  <a:sysClr val="windowText" lastClr="000000"/>
                </a:solidFill>
              </a:rPr>
              <a:t> – Number of main meals consumed daily</a:t>
            </a:r>
          </a:p>
          <a:p>
            <a:pPr>
              <a:buFont typeface="+mj-lt"/>
              <a:buAutoNum type="arabicPeriod"/>
            </a:pPr>
            <a:r>
              <a:rPr lang="en-US" sz="1400" b="1">
                <a:solidFill>
                  <a:sysClr val="windowText" lastClr="000000"/>
                </a:solidFill>
              </a:rPr>
              <a:t>CAEC</a:t>
            </a:r>
            <a:r>
              <a:rPr lang="en-US" sz="1400">
                <a:solidFill>
                  <a:sysClr val="windowText" lastClr="000000"/>
                </a:solidFill>
              </a:rPr>
              <a:t> – Frequency of food consumption between meals (Never/Sometimes/Frequently/Always)</a:t>
            </a:r>
          </a:p>
          <a:p>
            <a:pPr>
              <a:buFont typeface="+mj-lt"/>
              <a:buAutoNum type="arabicPeriod"/>
            </a:pPr>
            <a:r>
              <a:rPr lang="en-US" sz="1400" b="1">
                <a:solidFill>
                  <a:sysClr val="windowText" lastClr="000000"/>
                </a:solidFill>
              </a:rPr>
              <a:t>SMOKE</a:t>
            </a:r>
            <a:r>
              <a:rPr lang="en-US" sz="1400">
                <a:solidFill>
                  <a:sysClr val="windowText" lastClr="000000"/>
                </a:solidFill>
              </a:rPr>
              <a:t> – Smoking status (Yes/No)</a:t>
            </a:r>
          </a:p>
          <a:p>
            <a:pPr>
              <a:buFont typeface="+mj-lt"/>
              <a:buAutoNum type="arabicPeriod"/>
            </a:pPr>
            <a:r>
              <a:rPr lang="en-US" sz="1400" b="1">
                <a:solidFill>
                  <a:sysClr val="windowText" lastClr="000000"/>
                </a:solidFill>
              </a:rPr>
              <a:t>CH2O</a:t>
            </a:r>
            <a:r>
              <a:rPr lang="en-US" sz="1400">
                <a:solidFill>
                  <a:sysClr val="windowText" lastClr="000000"/>
                </a:solidFill>
              </a:rPr>
              <a:t> – Daily water intake (1-3 scale)</a:t>
            </a:r>
          </a:p>
          <a:p>
            <a:pPr>
              <a:buFont typeface="+mj-lt"/>
              <a:buAutoNum type="arabicPeriod"/>
            </a:pPr>
            <a:r>
              <a:rPr lang="en-US" sz="1400" b="1">
                <a:solidFill>
                  <a:sysClr val="windowText" lastClr="000000"/>
                </a:solidFill>
              </a:rPr>
              <a:t>SCC</a:t>
            </a:r>
            <a:r>
              <a:rPr lang="en-US" sz="1400">
                <a:solidFill>
                  <a:sysClr val="windowText" lastClr="000000"/>
                </a:solidFill>
              </a:rPr>
              <a:t> – Monitors caloric intake (Yes/No)</a:t>
            </a:r>
          </a:p>
          <a:p>
            <a:pPr>
              <a:buFont typeface="+mj-lt"/>
              <a:buAutoNum type="arabicPeriod"/>
            </a:pPr>
            <a:r>
              <a:rPr lang="en-US" sz="1400" b="1">
                <a:solidFill>
                  <a:sysClr val="windowText" lastClr="000000"/>
                </a:solidFill>
              </a:rPr>
              <a:t>FAF</a:t>
            </a:r>
            <a:r>
              <a:rPr lang="en-US" sz="1400">
                <a:solidFill>
                  <a:sysClr val="windowText" lastClr="000000"/>
                </a:solidFill>
              </a:rPr>
              <a:t> – Physical activity frequency per week (0-3 scale)</a:t>
            </a:r>
          </a:p>
          <a:p>
            <a:pPr>
              <a:buFont typeface="+mj-lt"/>
              <a:buAutoNum type="arabicPeriod"/>
            </a:pPr>
            <a:r>
              <a:rPr lang="en-US" sz="1400" b="1">
                <a:solidFill>
                  <a:sysClr val="windowText" lastClr="000000"/>
                </a:solidFill>
              </a:rPr>
              <a:t>TUE</a:t>
            </a:r>
            <a:r>
              <a:rPr lang="en-US" sz="1400">
                <a:solidFill>
                  <a:sysClr val="windowText" lastClr="000000"/>
                </a:solidFill>
              </a:rPr>
              <a:t> – Daily screen time (0-2 scale)</a:t>
            </a:r>
          </a:p>
          <a:p>
            <a:pPr>
              <a:buFont typeface="+mj-lt"/>
              <a:buAutoNum type="arabicPeriod"/>
            </a:pPr>
            <a:r>
              <a:rPr lang="en-US" sz="1400" b="1">
                <a:solidFill>
                  <a:sysClr val="windowText" lastClr="000000"/>
                </a:solidFill>
              </a:rPr>
              <a:t>CALC</a:t>
            </a:r>
            <a:r>
              <a:rPr lang="en-US" sz="1400">
                <a:solidFill>
                  <a:sysClr val="windowText" lastClr="000000"/>
                </a:solidFill>
              </a:rPr>
              <a:t> – Alcohol consumption frequency (Never/Sometimes/Frequently/Always)</a:t>
            </a:r>
          </a:p>
          <a:p>
            <a:pPr>
              <a:buFont typeface="+mj-lt"/>
              <a:buAutoNum type="arabicPeriod"/>
            </a:pPr>
            <a:r>
              <a:rPr lang="en-US" sz="1400" b="1">
                <a:solidFill>
                  <a:sysClr val="windowText" lastClr="000000"/>
                </a:solidFill>
              </a:rPr>
              <a:t>MTRANS</a:t>
            </a:r>
            <a:r>
              <a:rPr lang="en-US" sz="1400">
                <a:solidFill>
                  <a:sysClr val="windowText" lastClr="000000"/>
                </a:solidFill>
              </a:rPr>
              <a:t> – Mode of transportation (Walking/Public Transport/Bike/Motorbike/Car)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66134C-08AD-9C84-1B9A-89BAC1E32F2A}"/>
              </a:ext>
            </a:extLst>
          </p:cNvPr>
          <p:cNvSpPr txBox="1">
            <a:spLocks/>
          </p:cNvSpPr>
          <p:nvPr/>
        </p:nvSpPr>
        <p:spPr>
          <a:xfrm>
            <a:off x="552450" y="331388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SA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A"/>
              <a:t>Dataset description</a:t>
            </a:r>
          </a:p>
        </p:txBody>
      </p:sp>
      <p:cxnSp>
        <p:nvCxnSpPr>
          <p:cNvPr id="5" name="رابط كسهم مستقيم 4">
            <a:extLst>
              <a:ext uri="{FF2B5EF4-FFF2-40B4-BE49-F238E27FC236}">
                <a16:creationId xmlns:a16="http://schemas.microsoft.com/office/drawing/2014/main" id="{FAB96EC5-63D3-1274-8E04-8C6DC0262597}"/>
              </a:ext>
            </a:extLst>
          </p:cNvPr>
          <p:cNvCxnSpPr/>
          <p:nvPr/>
        </p:nvCxnSpPr>
        <p:spPr>
          <a:xfrm flipV="1">
            <a:off x="-44756" y="1469004"/>
            <a:ext cx="12247222" cy="24313"/>
          </a:xfrm>
          <a:prstGeom prst="straightConnector1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482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F49FCED-DA1F-66FE-C4BC-06D5225AB23F}"/>
              </a:ext>
            </a:extLst>
          </p:cNvPr>
          <p:cNvSpPr txBox="1">
            <a:spLocks/>
          </p:cNvSpPr>
          <p:nvPr/>
        </p:nvSpPr>
        <p:spPr>
          <a:xfrm>
            <a:off x="838200" y="409289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A"/>
              <a:t>Dataset Processing</a:t>
            </a:r>
          </a:p>
        </p:txBody>
      </p:sp>
      <p:pic>
        <p:nvPicPr>
          <p:cNvPr id="9" name="Picture 8" descr="A close-up of a computer code&#10;&#10;Description automatically generated">
            <a:extLst>
              <a:ext uri="{FF2B5EF4-FFF2-40B4-BE49-F238E27FC236}">
                <a16:creationId xmlns:a16="http://schemas.microsoft.com/office/drawing/2014/main" id="{79ED88B6-C5C1-B19D-CC86-68C90F811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43" y="2649646"/>
            <a:ext cx="7288669" cy="11168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62C0A1-E87A-E27E-C532-E50BE06DDF63}"/>
              </a:ext>
            </a:extLst>
          </p:cNvPr>
          <p:cNvSpPr txBox="1"/>
          <p:nvPr/>
        </p:nvSpPr>
        <p:spPr>
          <a:xfrm>
            <a:off x="221343" y="2127522"/>
            <a:ext cx="6836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A"/>
              <a:t>We encoded categorical data using the label encoder:</a:t>
            </a:r>
          </a:p>
        </p:txBody>
      </p:sp>
      <p:pic>
        <p:nvPicPr>
          <p:cNvPr id="3" name="صورة 2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8658405E-3D57-41B0-99A5-1A69C01AA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080" y="4375735"/>
            <a:ext cx="8782050" cy="2257425"/>
          </a:xfrm>
          <a:prstGeom prst="rect">
            <a:avLst/>
          </a:prstGeom>
        </p:spPr>
      </p:pic>
      <p:sp>
        <p:nvSpPr>
          <p:cNvPr id="5" name="TextBox 11">
            <a:extLst>
              <a:ext uri="{FF2B5EF4-FFF2-40B4-BE49-F238E27FC236}">
                <a16:creationId xmlns:a16="http://schemas.microsoft.com/office/drawing/2014/main" id="{7262C0A1-E87A-E27E-C532-E50BE06DDF63}"/>
              </a:ext>
            </a:extLst>
          </p:cNvPr>
          <p:cNvSpPr txBox="1"/>
          <p:nvPr/>
        </p:nvSpPr>
        <p:spPr>
          <a:xfrm>
            <a:off x="221343" y="3852049"/>
            <a:ext cx="6836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SA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A"/>
              <a:t>We scaled numerical columns:</a:t>
            </a:r>
          </a:p>
        </p:txBody>
      </p:sp>
    </p:spTree>
    <p:extLst>
      <p:ext uri="{BB962C8B-B14F-4D97-AF65-F5344CB8AC3E}">
        <p14:creationId xmlns:p14="http://schemas.microsoft.com/office/powerpoint/2010/main" val="3396195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F49FCED-DA1F-66FE-C4BC-06D5225AB23F}"/>
              </a:ext>
            </a:extLst>
          </p:cNvPr>
          <p:cNvSpPr txBox="1">
            <a:spLocks/>
          </p:cNvSpPr>
          <p:nvPr/>
        </p:nvSpPr>
        <p:spPr>
          <a:xfrm>
            <a:off x="838200" y="409289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A"/>
              <a:t>Dataset Processing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62C0A1-E87A-E27E-C532-E50BE06DDF63}"/>
              </a:ext>
            </a:extLst>
          </p:cNvPr>
          <p:cNvSpPr txBox="1"/>
          <p:nvPr/>
        </p:nvSpPr>
        <p:spPr>
          <a:xfrm>
            <a:off x="221343" y="2127522"/>
            <a:ext cx="6836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A"/>
              <a:t>We scaled numerical columns:</a:t>
            </a:r>
          </a:p>
        </p:txBody>
      </p:sp>
      <p:pic>
        <p:nvPicPr>
          <p:cNvPr id="3" name="Picture 2" descr="A graph of a line&#10;&#10;Description automatically generated with medium confidence">
            <a:extLst>
              <a:ext uri="{FF2B5EF4-FFF2-40B4-BE49-F238E27FC236}">
                <a16:creationId xmlns:a16="http://schemas.microsoft.com/office/drawing/2014/main" id="{ED915FCB-1DB1-9F71-58FE-5D18B2215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43" y="2585472"/>
            <a:ext cx="8187620" cy="355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942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77FEC-4F57-36AC-CADF-9013AC216D93}"/>
              </a:ext>
            </a:extLst>
          </p:cNvPr>
          <p:cNvSpPr txBox="1">
            <a:spLocks/>
          </p:cNvSpPr>
          <p:nvPr/>
        </p:nvSpPr>
        <p:spPr>
          <a:xfrm>
            <a:off x="-37214" y="-196938"/>
            <a:ext cx="12266428" cy="1138066"/>
          </a:xfrm>
          <a:prstGeom prst="rect">
            <a:avLst/>
          </a:prstGeom>
          <a:solidFill>
            <a:srgbClr val="E2C0CC"/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/>
              <a:t>KNN</a:t>
            </a:r>
          </a:p>
        </p:txBody>
      </p:sp>
      <p:pic>
        <p:nvPicPr>
          <p:cNvPr id="3" name="Picture 2" descr="A graph with blue dots and red lines&#10;&#10;Description automatically generated">
            <a:extLst>
              <a:ext uri="{FF2B5EF4-FFF2-40B4-BE49-F238E27FC236}">
                <a16:creationId xmlns:a16="http://schemas.microsoft.com/office/drawing/2014/main" id="{EE00C9CE-FF32-D023-161F-DFBABE523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51" y="1039408"/>
            <a:ext cx="7151797" cy="37554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2F0E92-9FCF-EA10-DE0D-15666D912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51" y="5360712"/>
            <a:ext cx="8912747" cy="11809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F9863F-5F23-29AF-BA92-A6ECA8F104AE}"/>
              </a:ext>
            </a:extLst>
          </p:cNvPr>
          <p:cNvSpPr txBox="1"/>
          <p:nvPr/>
        </p:nvSpPr>
        <p:spPr>
          <a:xfrm>
            <a:off x="302851" y="4893100"/>
            <a:ext cx="6581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A"/>
              <a:t>We found that #neighbors = 6 is the best fit.</a:t>
            </a:r>
          </a:p>
        </p:txBody>
      </p:sp>
    </p:spTree>
    <p:extLst>
      <p:ext uri="{BB962C8B-B14F-4D97-AF65-F5344CB8AC3E}">
        <p14:creationId xmlns:p14="http://schemas.microsoft.com/office/powerpoint/2010/main" val="3423937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77FEC-4F57-36AC-CADF-9013AC216D93}"/>
              </a:ext>
            </a:extLst>
          </p:cNvPr>
          <p:cNvSpPr txBox="1">
            <a:spLocks/>
          </p:cNvSpPr>
          <p:nvPr/>
        </p:nvSpPr>
        <p:spPr>
          <a:xfrm>
            <a:off x="-37214" y="-196938"/>
            <a:ext cx="12266428" cy="1138066"/>
          </a:xfrm>
          <a:prstGeom prst="rect">
            <a:avLst/>
          </a:prstGeom>
          <a:solidFill>
            <a:srgbClr val="E2C0CC"/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/>
              <a:t>KNN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F9863F-5F23-29AF-BA92-A6ECA8F104AE}"/>
              </a:ext>
            </a:extLst>
          </p:cNvPr>
          <p:cNvSpPr txBox="1"/>
          <p:nvPr/>
        </p:nvSpPr>
        <p:spPr>
          <a:xfrm>
            <a:off x="390597" y="4708434"/>
            <a:ext cx="6581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A"/>
              <a:t>We obtained very high accuracy with KNN ≈ 97%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BE10EB-C086-A073-CC90-30C61DF34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21" y="1069080"/>
            <a:ext cx="8729282" cy="3511402"/>
          </a:xfrm>
          <a:prstGeom prst="rect">
            <a:avLst/>
          </a:prstGeom>
        </p:spPr>
      </p:pic>
      <p:pic>
        <p:nvPicPr>
          <p:cNvPr id="8" name="Picture 7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17AF2CF2-857D-3BB2-46EB-98F8737E9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746" y="3137399"/>
            <a:ext cx="4377548" cy="3511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879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77FEC-4F57-36AC-CADF-9013AC216D93}"/>
              </a:ext>
            </a:extLst>
          </p:cNvPr>
          <p:cNvSpPr txBox="1">
            <a:spLocks/>
          </p:cNvSpPr>
          <p:nvPr/>
        </p:nvSpPr>
        <p:spPr>
          <a:xfrm>
            <a:off x="-37214" y="-196938"/>
            <a:ext cx="12266428" cy="1138066"/>
          </a:xfrm>
          <a:prstGeom prst="rect">
            <a:avLst/>
          </a:prstGeom>
          <a:solidFill>
            <a:srgbClr val="E2C0CC"/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/>
              <a:t>KNN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F9863F-5F23-29AF-BA92-A6ECA8F104AE}"/>
              </a:ext>
            </a:extLst>
          </p:cNvPr>
          <p:cNvSpPr txBox="1"/>
          <p:nvPr/>
        </p:nvSpPr>
        <p:spPr>
          <a:xfrm>
            <a:off x="518188" y="1787858"/>
            <a:ext cx="6581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A"/>
              <a:t>We also performed K-fold cross validation and obtained similar accuracies for different folds:</a:t>
            </a:r>
          </a:p>
        </p:txBody>
      </p:sp>
      <p:pic>
        <p:nvPicPr>
          <p:cNvPr id="10" name="Picture 9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13E2C415-5B1D-70E2-616A-342056CD9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88" y="2518697"/>
            <a:ext cx="10654644" cy="3010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057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77FEC-4F57-36AC-CADF-9013AC216D93}"/>
              </a:ext>
            </a:extLst>
          </p:cNvPr>
          <p:cNvSpPr txBox="1">
            <a:spLocks/>
          </p:cNvSpPr>
          <p:nvPr/>
        </p:nvSpPr>
        <p:spPr>
          <a:xfrm>
            <a:off x="-37214" y="-196938"/>
            <a:ext cx="12266428" cy="113806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/>
              <a:t>SVM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F9863F-5F23-29AF-BA92-A6ECA8F104AE}"/>
              </a:ext>
            </a:extLst>
          </p:cNvPr>
          <p:cNvSpPr txBox="1"/>
          <p:nvPr/>
        </p:nvSpPr>
        <p:spPr>
          <a:xfrm>
            <a:off x="246339" y="1367728"/>
            <a:ext cx="6581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A"/>
              <a:t>We tested the accuracy of three kernel types:</a:t>
            </a:r>
          </a:p>
        </p:txBody>
      </p:sp>
      <p:pic>
        <p:nvPicPr>
          <p:cNvPr id="4" name="Picture 3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9C560845-5957-971E-C6BA-1472AD272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27" y="1934769"/>
            <a:ext cx="3922209" cy="3675200"/>
          </a:xfrm>
          <a:prstGeom prst="rect">
            <a:avLst/>
          </a:prstGeom>
        </p:spPr>
      </p:pic>
      <p:pic>
        <p:nvPicPr>
          <p:cNvPr id="7" name="Picture 6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F5F7C030-0B2D-2CB3-21F1-1354DE75C3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4895" y="1934769"/>
            <a:ext cx="3922209" cy="3675200"/>
          </a:xfrm>
          <a:prstGeom prst="rect">
            <a:avLst/>
          </a:prstGeom>
        </p:spPr>
      </p:pic>
      <p:pic>
        <p:nvPicPr>
          <p:cNvPr id="9" name="Picture 8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BFAF32CF-4CDA-8D16-F511-31EED1600B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1863" y="1934769"/>
            <a:ext cx="3922209" cy="3675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0FA680B-556C-9FD3-0C89-85663736BCF7}"/>
              </a:ext>
            </a:extLst>
          </p:cNvPr>
          <p:cNvSpPr txBox="1"/>
          <p:nvPr/>
        </p:nvSpPr>
        <p:spPr>
          <a:xfrm>
            <a:off x="246339" y="5807678"/>
            <a:ext cx="6581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A"/>
              <a:t>We observed that the linear kernel reaped the best results.</a:t>
            </a:r>
          </a:p>
        </p:txBody>
      </p:sp>
    </p:spTree>
    <p:extLst>
      <p:ext uri="{BB962C8B-B14F-4D97-AF65-F5344CB8AC3E}">
        <p14:creationId xmlns:p14="http://schemas.microsoft.com/office/powerpoint/2010/main" val="6516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77FEC-4F57-36AC-CADF-9013AC216D93}"/>
              </a:ext>
            </a:extLst>
          </p:cNvPr>
          <p:cNvSpPr txBox="1">
            <a:spLocks/>
          </p:cNvSpPr>
          <p:nvPr/>
        </p:nvSpPr>
        <p:spPr>
          <a:xfrm>
            <a:off x="-37214" y="-196938"/>
            <a:ext cx="12266428" cy="113806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/>
              <a:t>SVM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F9863F-5F23-29AF-BA92-A6ECA8F104AE}"/>
              </a:ext>
            </a:extLst>
          </p:cNvPr>
          <p:cNvSpPr txBox="1"/>
          <p:nvPr/>
        </p:nvSpPr>
        <p:spPr>
          <a:xfrm>
            <a:off x="246339" y="1297070"/>
            <a:ext cx="6581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A"/>
              <a:t>Results of Linear SVM: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314DBD-5157-49A8-B697-2D3194ABD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39" y="1810935"/>
            <a:ext cx="5345962" cy="4848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4298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77FEC-4F57-36AC-CADF-9013AC216D93}"/>
              </a:ext>
            </a:extLst>
          </p:cNvPr>
          <p:cNvSpPr txBox="1">
            <a:spLocks/>
          </p:cNvSpPr>
          <p:nvPr/>
        </p:nvSpPr>
        <p:spPr>
          <a:xfrm>
            <a:off x="-37214" y="-196938"/>
            <a:ext cx="12266428" cy="113806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/>
              <a:t>SVM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F9863F-5F23-29AF-BA92-A6ECA8F104AE}"/>
              </a:ext>
            </a:extLst>
          </p:cNvPr>
          <p:cNvSpPr txBox="1"/>
          <p:nvPr/>
        </p:nvSpPr>
        <p:spPr>
          <a:xfrm>
            <a:off x="246339" y="1297070"/>
            <a:ext cx="6581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A"/>
              <a:t>We also perfromed K-fold cross validation: </a:t>
            </a:r>
          </a:p>
        </p:txBody>
      </p:sp>
      <p:pic>
        <p:nvPicPr>
          <p:cNvPr id="4" name="Picture 3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90560694-F6A1-6C9D-243D-359027912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38" y="1925374"/>
            <a:ext cx="10846463" cy="30543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4F9B74-06A5-41F8-7DB3-330715DC7C0F}"/>
              </a:ext>
            </a:extLst>
          </p:cNvPr>
          <p:cNvSpPr txBox="1"/>
          <p:nvPr/>
        </p:nvSpPr>
        <p:spPr>
          <a:xfrm>
            <a:off x="246338" y="5054079"/>
            <a:ext cx="6581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A"/>
              <a:t>And we observed consistently high accuracy levels.</a:t>
            </a:r>
          </a:p>
        </p:txBody>
      </p:sp>
    </p:spTree>
    <p:extLst>
      <p:ext uri="{BB962C8B-B14F-4D97-AF65-F5344CB8AC3E}">
        <p14:creationId xmlns:p14="http://schemas.microsoft.com/office/powerpoint/2010/main" val="703320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B34E0-DDAF-A58D-36A6-A95B69646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0F1A3-B596-270A-FF0F-3C0C9A1E0DA8}"/>
              </a:ext>
            </a:extLst>
          </p:cNvPr>
          <p:cNvSpPr txBox="1">
            <a:spLocks/>
          </p:cNvSpPr>
          <p:nvPr/>
        </p:nvSpPr>
        <p:spPr>
          <a:xfrm>
            <a:off x="-37214" y="-196938"/>
            <a:ext cx="12266428" cy="113806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/>
              <a:t>SVM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7F9DC2-B887-3F0A-0B6F-EC73DE65B79E}"/>
              </a:ext>
            </a:extLst>
          </p:cNvPr>
          <p:cNvSpPr txBox="1"/>
          <p:nvPr/>
        </p:nvSpPr>
        <p:spPr>
          <a:xfrm>
            <a:off x="246339" y="1297070"/>
            <a:ext cx="6581553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A"/>
              <a:t>Data plot:</a:t>
            </a:r>
            <a:endParaRPr lang="en-US"/>
          </a:p>
        </p:txBody>
      </p:sp>
      <p:pic>
        <p:nvPicPr>
          <p:cNvPr id="3" name="Picture 2" descr="Picture 11, Picture">
            <a:extLst>
              <a:ext uri="{FF2B5EF4-FFF2-40B4-BE49-F238E27FC236}">
                <a16:creationId xmlns:a16="http://schemas.microsoft.com/office/drawing/2014/main" id="{18D43106-D4F3-5622-6823-A7C23322D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69" y="1718726"/>
            <a:ext cx="6212044" cy="485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902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77FEC-4F57-36AC-CADF-9013AC216D93}"/>
              </a:ext>
            </a:extLst>
          </p:cNvPr>
          <p:cNvSpPr txBox="1">
            <a:spLocks/>
          </p:cNvSpPr>
          <p:nvPr/>
        </p:nvSpPr>
        <p:spPr>
          <a:xfrm>
            <a:off x="-37214" y="-196938"/>
            <a:ext cx="12266428" cy="113806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/>
              <a:t>SVM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BFB4B8-999F-A9C4-AB10-5CEB1B4842A5}"/>
              </a:ext>
            </a:extLst>
          </p:cNvPr>
          <p:cNvSpPr txBox="1"/>
          <p:nvPr/>
        </p:nvSpPr>
        <p:spPr>
          <a:xfrm>
            <a:off x="221624" y="1436964"/>
            <a:ext cx="8502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A"/>
              <a:t>Plots of the decision boundaries of the classes Insufficient_Weight and Obesity_Type_III:</a:t>
            </a:r>
          </a:p>
        </p:txBody>
      </p:sp>
      <p:pic>
        <p:nvPicPr>
          <p:cNvPr id="7" name="Picture 6" descr="A diagram of a red and blue graph&#10;&#10;Description automatically generated">
            <a:extLst>
              <a:ext uri="{FF2B5EF4-FFF2-40B4-BE49-F238E27FC236}">
                <a16:creationId xmlns:a16="http://schemas.microsoft.com/office/drawing/2014/main" id="{0D188370-627E-8238-7D69-5B6E78AEF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75" y="1973308"/>
            <a:ext cx="5462074" cy="3789106"/>
          </a:xfrm>
          <a:prstGeom prst="rect">
            <a:avLst/>
          </a:prstGeom>
        </p:spPr>
      </p:pic>
      <p:pic>
        <p:nvPicPr>
          <p:cNvPr id="8" name="Picture 7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AEDB7F99-61B4-834F-AAAF-C68592AF96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152" y="1973308"/>
            <a:ext cx="5462075" cy="378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812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77FEC-4F57-36AC-CADF-9013AC216D93}"/>
              </a:ext>
            </a:extLst>
          </p:cNvPr>
          <p:cNvSpPr txBox="1">
            <a:spLocks/>
          </p:cNvSpPr>
          <p:nvPr/>
        </p:nvSpPr>
        <p:spPr>
          <a:xfrm>
            <a:off x="-37214" y="-196938"/>
            <a:ext cx="12266428" cy="1138066"/>
          </a:xfrm>
          <a:prstGeom prst="rect">
            <a:avLst/>
          </a:prstGeom>
          <a:solidFill>
            <a:srgbClr val="7EBDAB"/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/>
              <a:t>DNN</a:t>
            </a:r>
          </a:p>
        </p:txBody>
      </p:sp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7AB43739-57B5-9CD5-9264-FA1BC85AE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24" y="1914710"/>
            <a:ext cx="7772400" cy="30285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A3F94F-2814-D7AA-16C2-5EBFCB13601B}"/>
              </a:ext>
            </a:extLst>
          </p:cNvPr>
          <p:cNvSpPr txBox="1"/>
          <p:nvPr/>
        </p:nvSpPr>
        <p:spPr>
          <a:xfrm>
            <a:off x="221624" y="5051704"/>
            <a:ext cx="10682596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A" err="1"/>
              <a:t>fn</a:t>
            </a:r>
            <a:r>
              <a:rPr lang="en-SA"/>
              <a:t> = # numerical features (height and weight)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A" err="1"/>
              <a:t>cn</a:t>
            </a:r>
            <a:r>
              <a:rPr lang="en-SA"/>
              <a:t> = number of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A" err="1"/>
              <a:t>nl</a:t>
            </a:r>
            <a:r>
              <a:rPr lang="en-SA"/>
              <a:t> = </a:t>
            </a:r>
            <a:r>
              <a:rPr lang="en-US"/>
              <a:t>variable </a:t>
            </a:r>
            <a:r>
              <a:rPr lang="en-SA"/>
              <a:t>number of hidden layers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A" err="1"/>
              <a:t>nn</a:t>
            </a:r>
            <a:r>
              <a:rPr lang="en-SA"/>
              <a:t> = # neurons in each layer, which is halved as we go deeper in the network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82421D18-B4CB-39F8-1CE8-BEFD782D85A7}"/>
              </a:ext>
            </a:extLst>
          </p:cNvPr>
          <p:cNvSpPr txBox="1"/>
          <p:nvPr/>
        </p:nvSpPr>
        <p:spPr>
          <a:xfrm>
            <a:off x="221624" y="1345275"/>
            <a:ext cx="1024825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A" b="1" err="1"/>
              <a:t>Model</a:t>
            </a:r>
            <a:r>
              <a:rPr lang="en-SA" b="1"/>
              <a:t> architictiure</a:t>
            </a:r>
            <a:endParaRPr lang="ar-SA" b="1"/>
          </a:p>
        </p:txBody>
      </p:sp>
    </p:spTree>
    <p:extLst>
      <p:ext uri="{BB962C8B-B14F-4D97-AF65-F5344CB8AC3E}">
        <p14:creationId xmlns:p14="http://schemas.microsoft.com/office/powerpoint/2010/main" val="150438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77FEC-4F57-36AC-CADF-9013AC216D93}"/>
              </a:ext>
            </a:extLst>
          </p:cNvPr>
          <p:cNvSpPr txBox="1">
            <a:spLocks/>
          </p:cNvSpPr>
          <p:nvPr/>
        </p:nvSpPr>
        <p:spPr>
          <a:xfrm>
            <a:off x="-37214" y="-196938"/>
            <a:ext cx="12266428" cy="1138066"/>
          </a:xfrm>
          <a:prstGeom prst="rect">
            <a:avLst/>
          </a:prstGeom>
          <a:solidFill>
            <a:srgbClr val="7EBDAB"/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/>
              <a:t>DNN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BFB4B8-999F-A9C4-AB10-5CEB1B4842A5}"/>
              </a:ext>
            </a:extLst>
          </p:cNvPr>
          <p:cNvSpPr txBox="1"/>
          <p:nvPr/>
        </p:nvSpPr>
        <p:spPr>
          <a:xfrm>
            <a:off x="221624" y="1004380"/>
            <a:ext cx="1024825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A"/>
              <a:t>We experimented with different hyperparameter combinations to obtain higher accuracy levels: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CACC35-1C04-8780-FE8E-95C75664D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24" y="1376806"/>
            <a:ext cx="8430852" cy="45542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F0270E-95A9-A442-D201-5F520A1A3337}"/>
              </a:ext>
            </a:extLst>
          </p:cNvPr>
          <p:cNvSpPr txBox="1"/>
          <p:nvPr/>
        </p:nvSpPr>
        <p:spPr>
          <a:xfrm>
            <a:off x="221624" y="6134432"/>
            <a:ext cx="3443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A"/>
              <a:t>And we found that these were best: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C39A824-7200-B485-4880-75BEEF389E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5220" y="6095686"/>
            <a:ext cx="7772400" cy="44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809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77FEC-4F57-36AC-CADF-9013AC216D93}"/>
              </a:ext>
            </a:extLst>
          </p:cNvPr>
          <p:cNvSpPr txBox="1">
            <a:spLocks/>
          </p:cNvSpPr>
          <p:nvPr/>
        </p:nvSpPr>
        <p:spPr>
          <a:xfrm>
            <a:off x="-37214" y="-196938"/>
            <a:ext cx="12266428" cy="1138066"/>
          </a:xfrm>
          <a:prstGeom prst="rect">
            <a:avLst/>
          </a:prstGeom>
          <a:solidFill>
            <a:srgbClr val="7EBDAB"/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/>
              <a:t>DNN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BFB4B8-999F-A9C4-AB10-5CEB1B4842A5}"/>
              </a:ext>
            </a:extLst>
          </p:cNvPr>
          <p:cNvSpPr txBox="1"/>
          <p:nvPr/>
        </p:nvSpPr>
        <p:spPr>
          <a:xfrm>
            <a:off x="205740" y="1368397"/>
            <a:ext cx="11494126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/>
              <a:t>We used 15 epochs for model validation. </a:t>
            </a:r>
            <a:endParaRPr lang="ar-SA" b="1"/>
          </a:p>
          <a:p>
            <a:r>
              <a:rPr lang="en-US"/>
              <a:t>Evaluating performance at the end of each epoch of each hyperparameter combination allowed us to track the model's progress efficiently and ensure it generalizes well over time with optimized performance.</a:t>
            </a:r>
          </a:p>
          <a:p>
            <a:endParaRPr lang="en-US"/>
          </a:p>
        </p:txBody>
      </p:sp>
      <p:pic>
        <p:nvPicPr>
          <p:cNvPr id="6" name="Picture 5" descr="A screen shot of a computer&#10;&#10;Description automatically generated">
            <a:extLst>
              <a:ext uri="{FF2B5EF4-FFF2-40B4-BE49-F238E27FC236}">
                <a16:creationId xmlns:a16="http://schemas.microsoft.com/office/drawing/2014/main" id="{1201DBBC-02C5-6363-415C-B6E5FA2FD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571" y="2999907"/>
            <a:ext cx="7772400" cy="2422292"/>
          </a:xfrm>
          <a:prstGeom prst="rect">
            <a:avLst/>
          </a:prstGeom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A844EB17-15C7-9877-2434-C33F72568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988" y="2996422"/>
            <a:ext cx="3812680" cy="299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9456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 descr="Picture 53, صورة">
            <a:extLst>
              <a:ext uri="{FF2B5EF4-FFF2-40B4-BE49-F238E27FC236}">
                <a16:creationId xmlns:a16="http://schemas.microsoft.com/office/drawing/2014/main" id="{EFACB41E-25A1-A756-9870-C45ECA016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" y="1443037"/>
            <a:ext cx="9534525" cy="521017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CA15F2D-2089-C21D-9EEE-70D2B3D37EB9}"/>
              </a:ext>
            </a:extLst>
          </p:cNvPr>
          <p:cNvSpPr txBox="1">
            <a:spLocks/>
          </p:cNvSpPr>
          <p:nvPr/>
        </p:nvSpPr>
        <p:spPr>
          <a:xfrm>
            <a:off x="-37214" y="-196938"/>
            <a:ext cx="12266428" cy="1138066"/>
          </a:xfrm>
          <a:prstGeom prst="rect">
            <a:avLst/>
          </a:prstGeom>
          <a:solidFill>
            <a:srgbClr val="7EBDAB"/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/>
              <a:t>DNN</a:t>
            </a:r>
          </a:p>
        </p:txBody>
      </p:sp>
    </p:spTree>
    <p:extLst>
      <p:ext uri="{BB962C8B-B14F-4D97-AF65-F5344CB8AC3E}">
        <p14:creationId xmlns:p14="http://schemas.microsoft.com/office/powerpoint/2010/main" val="4278150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77FEC-4F57-36AC-CADF-9013AC216D93}"/>
              </a:ext>
            </a:extLst>
          </p:cNvPr>
          <p:cNvSpPr txBox="1">
            <a:spLocks/>
          </p:cNvSpPr>
          <p:nvPr/>
        </p:nvSpPr>
        <p:spPr>
          <a:xfrm>
            <a:off x="-37214" y="-196938"/>
            <a:ext cx="12266428" cy="1138066"/>
          </a:xfrm>
          <a:prstGeom prst="rect">
            <a:avLst/>
          </a:prstGeom>
          <a:solidFill>
            <a:srgbClr val="7EBDAB"/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/>
              <a:t>DNN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BFB4B8-999F-A9C4-AB10-5CEB1B4842A5}"/>
              </a:ext>
            </a:extLst>
          </p:cNvPr>
          <p:cNvSpPr txBox="1"/>
          <p:nvPr/>
        </p:nvSpPr>
        <p:spPr>
          <a:xfrm>
            <a:off x="205740" y="1268134"/>
            <a:ext cx="11494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Results:</a:t>
            </a:r>
            <a:endParaRPr lang="en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6E2F5C-0E0A-3860-AEF7-43E880740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" y="1749981"/>
            <a:ext cx="4306144" cy="35535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064826-2BDE-0C69-D4FF-9A56827E2F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946" y="2410833"/>
            <a:ext cx="7075843" cy="2231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404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FB685-D57D-E736-285C-7C27AD522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A"/>
              <a:t>Model performance comparison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2F8A47-E018-51A2-FD2A-0045AA435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2149" y="2552006"/>
            <a:ext cx="3917922" cy="3233168"/>
          </a:xfrm>
          <a:prstGeom prst="rect">
            <a:avLst/>
          </a:prstGeom>
        </p:spPr>
      </p:pic>
      <p:pic>
        <p:nvPicPr>
          <p:cNvPr id="6" name="Picture 5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2A681DD9-A755-C8B7-9D6E-9499DF680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5612" y="2552006"/>
            <a:ext cx="3450468" cy="3233168"/>
          </a:xfrm>
          <a:prstGeom prst="rect">
            <a:avLst/>
          </a:prstGeom>
        </p:spPr>
      </p:pic>
      <p:pic>
        <p:nvPicPr>
          <p:cNvPr id="7" name="Picture 6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1AAD0132-4074-F63D-3A7B-5B809E2F9B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978" y="2552006"/>
            <a:ext cx="4030683" cy="32331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B7566A5-185B-39A0-BC5C-2AE52DD4F28A}"/>
              </a:ext>
            </a:extLst>
          </p:cNvPr>
          <p:cNvSpPr txBox="1"/>
          <p:nvPr/>
        </p:nvSpPr>
        <p:spPr>
          <a:xfrm>
            <a:off x="838200" y="1942237"/>
            <a:ext cx="786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A"/>
              <a:t>Comparing confusion matrices and accuracies: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B3DEDD-CD7C-0FD6-9359-25B72E7BA85E}"/>
              </a:ext>
            </a:extLst>
          </p:cNvPr>
          <p:cNvSpPr txBox="1"/>
          <p:nvPr/>
        </p:nvSpPr>
        <p:spPr>
          <a:xfrm>
            <a:off x="1217099" y="5785174"/>
            <a:ext cx="2188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A"/>
              <a:t>Accuracy ≈ 97%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D1E5B9-C204-484A-A5CC-3D75E3CF82DA}"/>
              </a:ext>
            </a:extLst>
          </p:cNvPr>
          <p:cNvSpPr txBox="1"/>
          <p:nvPr/>
        </p:nvSpPr>
        <p:spPr>
          <a:xfrm>
            <a:off x="5116626" y="5785174"/>
            <a:ext cx="2188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A"/>
              <a:t>Accuracy ≈ 95%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6A5A79-7D02-4C51-BD7B-C8681413C20E}"/>
              </a:ext>
            </a:extLst>
          </p:cNvPr>
          <p:cNvSpPr txBox="1"/>
          <p:nvPr/>
        </p:nvSpPr>
        <p:spPr>
          <a:xfrm>
            <a:off x="8936890" y="5785174"/>
            <a:ext cx="2188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A"/>
              <a:t>Accuracy ≈ 95%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C800B5-D002-600C-D0E5-1410D608FE4D}"/>
              </a:ext>
            </a:extLst>
          </p:cNvPr>
          <p:cNvSpPr/>
          <p:nvPr/>
        </p:nvSpPr>
        <p:spPr>
          <a:xfrm>
            <a:off x="171382" y="2398240"/>
            <a:ext cx="4279872" cy="3874770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93C0A2-AF09-9B49-C517-52FE4EC9BCB6}"/>
              </a:ext>
            </a:extLst>
          </p:cNvPr>
          <p:cNvSpPr txBox="1"/>
          <p:nvPr/>
        </p:nvSpPr>
        <p:spPr>
          <a:xfrm>
            <a:off x="295977" y="6273010"/>
            <a:ext cx="4030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A">
                <a:solidFill>
                  <a:schemeClr val="accent3"/>
                </a:solidFill>
              </a:rPr>
              <a:t>KNN resulted in the highest accuracy</a:t>
            </a:r>
          </a:p>
        </p:txBody>
      </p:sp>
    </p:spTree>
    <p:extLst>
      <p:ext uri="{BB962C8B-B14F-4D97-AF65-F5344CB8AC3E}">
        <p14:creationId xmlns:p14="http://schemas.microsoft.com/office/powerpoint/2010/main" val="839644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A7CC8F-56A6-423D-B67A-8BA89D3EC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37ED6FA-A740-4E1A-8BE4-2C8582435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FB685-D57D-E736-285C-7C27AD522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083" y="4660681"/>
            <a:ext cx="9689834" cy="11250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700"/>
              <a:t>Model performance comparison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7566A5-185B-39A0-BC5C-2AE52DD4F28A}"/>
              </a:ext>
            </a:extLst>
          </p:cNvPr>
          <p:cNvSpPr txBox="1"/>
          <p:nvPr/>
        </p:nvSpPr>
        <p:spPr>
          <a:xfrm>
            <a:off x="1938998" y="5866227"/>
            <a:ext cx="8314005" cy="696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10000"/>
              </a:lnSpc>
              <a:spcBef>
                <a:spcPts val="1000"/>
              </a:spcBef>
              <a:buSzPct val="80000"/>
            </a:pPr>
            <a:r>
              <a:rPr lang="en-US" sz="2000"/>
              <a:t>Comparing recall values: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D1C99D0-461D-4A91-81EF-CCCD798B3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43053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D42D389-EF37-EE6A-3821-55BDBAB9F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28713"/>
              </p:ext>
            </p:extLst>
          </p:nvPr>
        </p:nvGraphicFramePr>
        <p:xfrm>
          <a:off x="952491" y="419936"/>
          <a:ext cx="10287014" cy="3519604"/>
        </p:xfrm>
        <a:graphic>
          <a:graphicData uri="http://schemas.openxmlformats.org/drawingml/2006/table">
            <a:tbl>
              <a:tblPr firstRow="1" bandRow="1"/>
              <a:tblGrid>
                <a:gridCol w="1801734">
                  <a:extLst>
                    <a:ext uri="{9D8B030D-6E8A-4147-A177-3AD203B41FA5}">
                      <a16:colId xmlns:a16="http://schemas.microsoft.com/office/drawing/2014/main" val="2547569110"/>
                    </a:ext>
                  </a:extLst>
                </a:gridCol>
                <a:gridCol w="2121320">
                  <a:extLst>
                    <a:ext uri="{9D8B030D-6E8A-4147-A177-3AD203B41FA5}">
                      <a16:colId xmlns:a16="http://schemas.microsoft.com/office/drawing/2014/main" val="3474353694"/>
                    </a:ext>
                  </a:extLst>
                </a:gridCol>
                <a:gridCol w="2121320">
                  <a:extLst>
                    <a:ext uri="{9D8B030D-6E8A-4147-A177-3AD203B41FA5}">
                      <a16:colId xmlns:a16="http://schemas.microsoft.com/office/drawing/2014/main" val="401962647"/>
                    </a:ext>
                  </a:extLst>
                </a:gridCol>
                <a:gridCol w="2121320">
                  <a:extLst>
                    <a:ext uri="{9D8B030D-6E8A-4147-A177-3AD203B41FA5}">
                      <a16:colId xmlns:a16="http://schemas.microsoft.com/office/drawing/2014/main" val="2259741111"/>
                    </a:ext>
                  </a:extLst>
                </a:gridCol>
                <a:gridCol w="2121320">
                  <a:extLst>
                    <a:ext uri="{9D8B030D-6E8A-4147-A177-3AD203B41FA5}">
                      <a16:colId xmlns:a16="http://schemas.microsoft.com/office/drawing/2014/main" val="2348435296"/>
                    </a:ext>
                  </a:extLst>
                </a:gridCol>
              </a:tblGrid>
              <a:tr h="33426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Class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KNN Recall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DNN Recall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SVM Recall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Best Recall Model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178978"/>
                  </a:ext>
                </a:extLst>
              </a:tr>
              <a:tr h="530890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1.00 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1.00 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1.00 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All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444516"/>
                  </a:ext>
                </a:extLst>
              </a:tr>
              <a:tr h="530890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0.91 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0.84 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0.79 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KNN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7567246"/>
                  </a:ext>
                </a:extLst>
              </a:tr>
              <a:tr h="530890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0.99 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1.00 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0.99 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DNN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1379759"/>
                  </a:ext>
                </a:extLst>
              </a:tr>
              <a:tr h="530890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0.95 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0.93 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0.95 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KNN+SVM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948569"/>
                  </a:ext>
                </a:extLst>
              </a:tr>
              <a:tr h="530890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0.98 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0.92 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0.94 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KNN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726542"/>
                  </a:ext>
                </a:extLst>
              </a:tr>
              <a:tr h="530890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5 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0.98 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0.97 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0.98 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3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KNN+SVM </a:t>
                      </a:r>
                      <a:endParaRPr lang="en-US" sz="19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313" marR="98313" marT="49156" marB="49156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26207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0ACA3458-F526-BB79-E8CD-F3EFD09D81E9}"/>
              </a:ext>
            </a:extLst>
          </p:cNvPr>
          <p:cNvSpPr/>
          <p:nvPr/>
        </p:nvSpPr>
        <p:spPr>
          <a:xfrm>
            <a:off x="9117137" y="2873045"/>
            <a:ext cx="1135865" cy="284701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8C4820-0ACF-CF99-6101-9855EE0B897B}"/>
              </a:ext>
            </a:extLst>
          </p:cNvPr>
          <p:cNvSpPr/>
          <p:nvPr/>
        </p:nvSpPr>
        <p:spPr>
          <a:xfrm>
            <a:off x="9117136" y="3395549"/>
            <a:ext cx="1135865" cy="284701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43593B-4C7A-D6BE-9479-3DC49D6E9AC3}"/>
              </a:ext>
            </a:extLst>
          </p:cNvPr>
          <p:cNvSpPr/>
          <p:nvPr/>
        </p:nvSpPr>
        <p:spPr>
          <a:xfrm>
            <a:off x="9117136" y="2338852"/>
            <a:ext cx="1135865" cy="284701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D61268-6AE1-7C01-B95C-3BD39009F2A7}"/>
              </a:ext>
            </a:extLst>
          </p:cNvPr>
          <p:cNvSpPr/>
          <p:nvPr/>
        </p:nvSpPr>
        <p:spPr>
          <a:xfrm>
            <a:off x="9117136" y="1281103"/>
            <a:ext cx="1135865" cy="284701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D789EF-036A-E473-949E-5A351B312382}"/>
              </a:ext>
            </a:extLst>
          </p:cNvPr>
          <p:cNvSpPr/>
          <p:nvPr/>
        </p:nvSpPr>
        <p:spPr>
          <a:xfrm>
            <a:off x="9117136" y="759439"/>
            <a:ext cx="1135865" cy="284701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DC3312-96D8-9B84-8FAC-168EE4DA2E7B}"/>
              </a:ext>
            </a:extLst>
          </p:cNvPr>
          <p:cNvSpPr txBox="1"/>
          <p:nvPr/>
        </p:nvSpPr>
        <p:spPr>
          <a:xfrm>
            <a:off x="1938995" y="4410402"/>
            <a:ext cx="8314005" cy="696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10000"/>
              </a:lnSpc>
              <a:spcBef>
                <a:spcPts val="1000"/>
              </a:spcBef>
              <a:buSzPct val="80000"/>
            </a:pPr>
            <a:r>
              <a:rPr lang="en-US" sz="2000">
                <a:solidFill>
                  <a:schemeClr val="accent3"/>
                </a:solidFill>
              </a:rPr>
              <a:t>KNN also consistently had the best recall values</a:t>
            </a:r>
          </a:p>
        </p:txBody>
      </p:sp>
    </p:spTree>
    <p:extLst>
      <p:ext uri="{BB962C8B-B14F-4D97-AF65-F5344CB8AC3E}">
        <p14:creationId xmlns:p14="http://schemas.microsoft.com/office/powerpoint/2010/main" val="2686077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2" grpId="0" animBg="1"/>
      <p:bldP spid="15" grpId="0" animBg="1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 hidden="1">
            <a:extLst>
              <a:ext uri="{FF2B5EF4-FFF2-40B4-BE49-F238E27FC236}">
                <a16:creationId xmlns:a16="http://schemas.microsoft.com/office/drawing/2014/main" id="{15F2D19A-9194-4E37-B35B-0EA78D61E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 hidden="1">
            <a:extLst>
              <a:ext uri="{FF2B5EF4-FFF2-40B4-BE49-F238E27FC236}">
                <a16:creationId xmlns:a16="http://schemas.microsoft.com/office/drawing/2014/main" id="{0239B030-DB2E-426C-94C8-B23C31360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75198" y="727138"/>
            <a:ext cx="5241603" cy="5343721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25805" h="5429563">
                <a:moveTo>
                  <a:pt x="5325805" y="2714782"/>
                </a:moveTo>
                <a:cubicBezTo>
                  <a:pt x="5325805" y="4214114"/>
                  <a:pt x="4110356" y="5429563"/>
                  <a:pt x="2611024" y="5429563"/>
                </a:cubicBezTo>
                <a:lnTo>
                  <a:pt x="1942188" y="5429563"/>
                </a:lnTo>
                <a:lnTo>
                  <a:pt x="668836" y="5429563"/>
                </a:lnTo>
                <a:lnTo>
                  <a:pt x="0" y="5429563"/>
                </a:lnTo>
                <a:lnTo>
                  <a:pt x="0" y="0"/>
                </a:lnTo>
                <a:lnTo>
                  <a:pt x="668836" y="0"/>
                </a:lnTo>
                <a:lnTo>
                  <a:pt x="1942188" y="0"/>
                </a:lnTo>
                <a:lnTo>
                  <a:pt x="2611024" y="0"/>
                </a:lnTo>
                <a:cubicBezTo>
                  <a:pt x="4110356" y="0"/>
                  <a:pt x="5325805" y="1215450"/>
                  <a:pt x="5325805" y="2714782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0DBFC24-C93C-14DA-EF60-892CEDA39BAC}"/>
              </a:ext>
            </a:extLst>
          </p:cNvPr>
          <p:cNvSpPr/>
          <p:nvPr/>
        </p:nvSpPr>
        <p:spPr>
          <a:xfrm>
            <a:off x="2875" y="63033"/>
            <a:ext cx="12192000" cy="685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72131DE7-1786-003E-35BF-0EE629074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75199" y="726177"/>
            <a:ext cx="5241603" cy="5343721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25805" h="5429563">
                <a:moveTo>
                  <a:pt x="5325805" y="2714782"/>
                </a:moveTo>
                <a:cubicBezTo>
                  <a:pt x="5325805" y="4214114"/>
                  <a:pt x="4110356" y="5429563"/>
                  <a:pt x="2611024" y="5429563"/>
                </a:cubicBezTo>
                <a:lnTo>
                  <a:pt x="1942188" y="5429563"/>
                </a:lnTo>
                <a:lnTo>
                  <a:pt x="668836" y="5429563"/>
                </a:lnTo>
                <a:lnTo>
                  <a:pt x="0" y="5429563"/>
                </a:lnTo>
                <a:lnTo>
                  <a:pt x="0" y="0"/>
                </a:lnTo>
                <a:lnTo>
                  <a:pt x="668836" y="0"/>
                </a:lnTo>
                <a:lnTo>
                  <a:pt x="1942188" y="0"/>
                </a:lnTo>
                <a:lnTo>
                  <a:pt x="2611024" y="0"/>
                </a:lnTo>
                <a:cubicBezTo>
                  <a:pt x="4110356" y="0"/>
                  <a:pt x="5325805" y="1215450"/>
                  <a:pt x="5325805" y="2714782"/>
                </a:cubicBezTo>
                <a:close/>
              </a:path>
            </a:pathLst>
          </a:custGeom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TextBox 5" hidden="1">
            <a:extLst>
              <a:ext uri="{FF2B5EF4-FFF2-40B4-BE49-F238E27FC236}">
                <a16:creationId xmlns:a16="http://schemas.microsoft.com/office/drawing/2014/main" id="{265E8D4F-C734-E17B-BFEB-CC2A72A5C98B}"/>
              </a:ext>
            </a:extLst>
          </p:cNvPr>
          <p:cNvSpPr txBox="1"/>
          <p:nvPr/>
        </p:nvSpPr>
        <p:spPr>
          <a:xfrm>
            <a:off x="3578083" y="2274838"/>
            <a:ext cx="503583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/>
              <a:t>Estimation of Obesity Levels Based On Eating Habits and Physical Condition</a:t>
            </a:r>
            <a:endParaRPr lang="en-SA" sz="4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B868E5-E9D6-6BA3-F9AC-F9767F612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9788" y="1336430"/>
            <a:ext cx="4452425" cy="2968870"/>
          </a:xfrm>
        </p:spPr>
        <p:txBody>
          <a:bodyPr>
            <a:normAutofit/>
          </a:bodyPr>
          <a:lstStyle/>
          <a:p>
            <a:pPr algn="ctr"/>
            <a:r>
              <a:rPr lang="en-SA" sz="4800" err="1"/>
              <a:t>Group</a:t>
            </a:r>
            <a:r>
              <a:rPr lang="en-SA" sz="4800"/>
              <a:t> 4:</a:t>
            </a:r>
            <a:endParaRPr lang="ar-S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B9035D-55EF-5906-37D8-D74E45342B5A}"/>
              </a:ext>
            </a:extLst>
          </p:cNvPr>
          <p:cNvSpPr txBox="1"/>
          <p:nvPr/>
        </p:nvSpPr>
        <p:spPr>
          <a:xfrm>
            <a:off x="4375784" y="4306180"/>
            <a:ext cx="3440430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/>
              <a:t>Reema Ibrahim Alqahtani </a:t>
            </a:r>
            <a:endParaRPr lang="en-SA" sz="2000" b="1"/>
          </a:p>
          <a:p>
            <a:pPr algn="ctr"/>
            <a:r>
              <a:rPr lang="en-US" sz="2000" b="1"/>
              <a:t>Lena Ehab Ashqar </a:t>
            </a:r>
            <a:endParaRPr lang="en-SA" sz="2000" b="1"/>
          </a:p>
          <a:p>
            <a:pPr algn="ctr"/>
            <a:r>
              <a:rPr lang="en-US" sz="2000" b="1"/>
              <a:t>Sarah Imad Hamdan </a:t>
            </a:r>
            <a:r>
              <a:rPr lang="en-SA" sz="2000" b="1"/>
              <a:t> </a:t>
            </a:r>
          </a:p>
          <a:p>
            <a:pPr algn="ctr"/>
            <a:r>
              <a:rPr lang="en-US" sz="2000" b="1"/>
              <a:t>Fatma Ossama Gad </a:t>
            </a:r>
            <a:endParaRPr lang="en-SA" sz="2000" b="1"/>
          </a:p>
        </p:txBody>
      </p:sp>
    </p:spTree>
    <p:extLst>
      <p:ext uri="{BB962C8B-B14F-4D97-AF65-F5344CB8AC3E}">
        <p14:creationId xmlns:p14="http://schemas.microsoft.com/office/powerpoint/2010/main" val="1083390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rchwayVTI">
  <a:themeElements>
    <a:clrScheme name="Custom 1">
      <a:dk1>
        <a:sysClr val="windowText" lastClr="000000"/>
      </a:dk1>
      <a:lt1>
        <a:sysClr val="window" lastClr="FFFFFF"/>
      </a:lt1>
      <a:dk2>
        <a:srgbClr val="2E3A3C"/>
      </a:dk2>
      <a:lt2>
        <a:srgbClr val="EDE9E7"/>
      </a:lt2>
      <a:accent1>
        <a:srgbClr val="898470"/>
      </a:accent1>
      <a:accent2>
        <a:srgbClr val="7A8773"/>
      </a:accent2>
      <a:accent3>
        <a:srgbClr val="8C845E"/>
      </a:accent3>
      <a:accent4>
        <a:srgbClr val="9F7E56"/>
      </a:accent4>
      <a:accent5>
        <a:srgbClr val="9B7E69"/>
      </a:accent5>
      <a:accent6>
        <a:srgbClr val="AA7862"/>
      </a:accent6>
      <a:hlink>
        <a:srgbClr val="7A8773"/>
      </a:hlink>
      <a:folHlink>
        <a:srgbClr val="9F7E56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VTI" id="{309F1D27-9968-4F93-BA7C-3666A757FD2E}" vid="{76D8E8FD-8787-4E56-A14A-C28BF58ABEE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21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ArchwayVTI</vt:lpstr>
      <vt:lpstr>PowerPoint Presentation</vt:lpstr>
      <vt:lpstr>Objectives:              Scope: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performance comparison</vt:lpstr>
      <vt:lpstr>Model performance comparison</vt:lpstr>
      <vt:lpstr>Group 4: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Hamdan</dc:creator>
  <cp:revision>10</cp:revision>
  <dcterms:created xsi:type="dcterms:W3CDTF">2025-05-04T17:54:07Z</dcterms:created>
  <dcterms:modified xsi:type="dcterms:W3CDTF">2026-01-01T22:06:54Z</dcterms:modified>
</cp:coreProperties>
</file>